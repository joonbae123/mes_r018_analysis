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32669"/>
                </a:solidFill>
                <a:latin typeface="Montserrat"/>
              </a:defRPr>
            </a:pPr>
            <a:r>
              <a:t>Individual Performance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32669"/>
                </a:solidFill>
              </a:defRPr>
            </a:pPr>
            <a:r>
              <a:t>작업자 성과 관리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B7280"/>
                </a:solidFill>
              </a:defRPr>
            </a:pPr>
            <a:r>
              <a:t>MES R018 Analysis - Long-term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7280"/>
                </a:solidFill>
              </a:defRPr>
            </a:pPr>
            <a:r>
              <a:t>2026 ~ 2028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Feb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669"/>
                </a:solidFill>
              </a:defRPr>
            </a:pPr>
            <a:r>
              <a:t>The Journey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657600" cy="320040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t>AS-IS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현재의 한계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데이터는 있지만 활용 없음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작업자 성과 측정 불가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인력 계획 경험 의존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비효율 지속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097280"/>
            <a:ext cx="3657600" cy="320040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t>TO-BE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데이터 기반 의사결정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3가지 핵심 지표 실시간 집계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개인별 성과 리포트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AI 기반 인력 예측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생산성 20% 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669"/>
                </a:solidFill>
              </a:defRPr>
            </a:pPr>
            <a:r>
              <a:t>3-Metric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작업자 성과의 3가지 차원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560320" cy="2286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058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232669"/>
                </a:solidFill>
              </a:defRPr>
            </a:pPr>
            <a:r>
              <a:t>📊 Time Utilization</a:t>
            </a:r>
          </a:p>
          <a:p>
            <a:r>
              <a:t>작업 시간 활용률</a:t>
            </a:r>
          </a:p>
          <a:p/>
          <a:p>
            <a:pPr algn="ctr">
              <a:defRPr sz="3200" b="1">
                <a:solidFill>
                  <a:srgbClr val="0583F2"/>
                </a:solidFill>
              </a:defRPr>
            </a:pPr>
            <a:r>
              <a:t>76.3%</a:t>
            </a:r>
          </a:p>
          <a:p/>
          <a:p>
            <a:r>
              <a:t>(근무 시간 대비</a:t>
            </a:r>
          </a:p>
          <a:p>
            <a:r>
              <a:t>실제 작업 시간)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188720"/>
            <a:ext cx="2560320" cy="2286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58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232669"/>
                </a:solidFill>
              </a:defRPr>
            </a:pPr>
            <a:r>
              <a:t>⚡ Work Efficiency</a:t>
            </a:r>
          </a:p>
          <a:p>
            <a:r>
              <a:t>작업 효율성</a:t>
            </a:r>
          </a:p>
          <a:p/>
          <a:p>
            <a:pPr algn="ctr">
              <a:defRPr sz="3200" b="1">
                <a:solidFill>
                  <a:srgbClr val="0583F2"/>
                </a:solidFill>
              </a:defRPr>
            </a:pPr>
            <a:r>
              <a:t>103.2%</a:t>
            </a:r>
          </a:p>
          <a:p/>
          <a:p>
            <a:r>
              <a:t>(표준 시간 대비</a:t>
            </a:r>
          </a:p>
          <a:p>
            <a:r>
              <a:t>실제 생산성)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2560320" cy="2286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232669"/>
                </a:solidFill>
              </a:defRPr>
            </a:pPr>
            <a:r>
              <a:t>✅ Work Completion</a:t>
            </a:r>
          </a:p>
          <a:p>
            <a:r>
              <a:t>작업 완결성</a:t>
            </a:r>
          </a:p>
          <a:p/>
          <a:p>
            <a:pPr algn="ctr">
              <a:defRPr sz="3200" b="1">
                <a:solidFill>
                  <a:srgbClr val="10B981"/>
                </a:solidFill>
              </a:defRPr>
            </a:pPr>
            <a:r>
              <a:t>7.3</a:t>
            </a:r>
          </a:p>
          <a:p>
            <a:r>
              <a:t>jobs/week</a:t>
            </a:r>
          </a:p>
          <a:p/>
          <a:p>
            <a:r>
              <a:t>(완료된 작업 수량)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931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669"/>
                </a:solidFill>
              </a:defRPr>
            </a:pPr>
            <a:r>
              <a:t>→ Overall Score: A- (87.2/100)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669"/>
                </a:solidFill>
              </a:defRPr>
            </a:pPr>
            <a:r>
              <a:t>Work Completion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작업 완결성 측정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6576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2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32669"/>
                </a:solidFill>
              </a:defRPr>
            </a:pPr>
            <a:r>
              <a:t>📋 Definition</a:t>
            </a:r>
          </a:p>
          <a:p/>
          <a:p>
            <a:pPr>
              <a:defRPr sz="1600" b="1">
                <a:solidFill>
                  <a:srgbClr val="0583F2"/>
                </a:solidFill>
              </a:defRPr>
            </a:pPr>
            <a:r>
              <a:t>Work Completion Score</a:t>
            </a:r>
          </a:p>
          <a:p>
            <a:r>
              <a:t>= Σ (Job Rate / 100)</a:t>
            </a:r>
          </a:p>
          <a:p/>
          <a:p>
            <a:r>
              <a:t>Example:</a:t>
            </a:r>
          </a:p>
          <a:p>
            <a:r>
              <a:t>W/O-123: 100% → 1.0</a:t>
            </a:r>
          </a:p>
          <a:p>
            <a:r>
              <a:t>W/O-124: 40% → 0.4</a:t>
            </a:r>
          </a:p>
          <a:p>
            <a:r>
              <a:t>W/O-125: 80% → 0.8</a:t>
            </a:r>
          </a:p>
          <a:p/>
          <a:p>
            <a:r>
              <a:t>Total: 2.2 jobs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188720"/>
            <a:ext cx="3657600" cy="32004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B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32669"/>
                </a:solidFill>
              </a:defRPr>
            </a:pPr>
            <a:r>
              <a:t>Job Status Breakdown</a:t>
            </a:r>
          </a:p>
          <a:p/>
          <a:p>
            <a:r>
              <a:t>✅ Completed (100%): 3 jobs</a:t>
            </a:r>
          </a:p>
          <a:p>
            <a:r>
              <a:t>🟡 Near (80-99%): 2 jobs</a:t>
            </a:r>
          </a:p>
          <a:p>
            <a:r>
              <a:t>🟠 Progress (50-79%): 1 job</a:t>
            </a:r>
          </a:p>
          <a:p>
            <a:r>
              <a:t>🔴 Started (&lt;50%): 3 jobs</a:t>
            </a:r>
          </a:p>
          <a:p/>
          <a:p>
            <a:pPr>
              <a:defRPr sz="1600" b="1">
                <a:solidFill>
                  <a:srgbClr val="0583F2"/>
                </a:solidFill>
              </a:defRPr>
            </a:pPr>
            <a:r>
              <a:t>Total Score: 5.4 / 9 jobs</a:t>
            </a:r>
          </a:p>
          <a:p>
            <a:r>
              <a:t>Completion Rate: 60%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669"/>
                </a:solidFill>
              </a:defRPr>
            </a:pPr>
            <a:r>
              <a:t>Roadmap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2026 Q2 ~ 2028 Q2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2286000"/>
            <a:ext cx="7315200" cy="0"/>
          </a:xfrm>
          <a:prstGeom prst="line">
            <a:avLst/>
          </a:prstGeom>
          <a:ln w="38100">
            <a:solidFill>
              <a:srgbClr val="0583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188720"/>
            <a:ext cx="228600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2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232669"/>
                </a:solidFill>
              </a:defRPr>
            </a:pPr>
            <a:r>
              <a:t>Phase 1 (0-3 mo)</a:t>
            </a:r>
          </a:p>
          <a:p>
            <a:r>
              <a:t>Foundation</a:t>
            </a:r>
          </a:p>
          <a:p>
            <a:r>
              <a:t>2026 Q2 ~ Q3</a:t>
            </a:r>
          </a:p>
          <a:p/>
          <a:p>
            <a:r>
              <a:t>• 3-Metric System</a:t>
            </a:r>
          </a:p>
          <a:p>
            <a:r>
              <a:t>• Individual Report</a:t>
            </a:r>
          </a:p>
          <a:p>
            <a:r>
              <a:t>• Team Dashboard</a:t>
            </a:r>
          </a:p>
          <a:p/>
          <a:p>
            <a:pPr>
              <a:defRPr>
                <a:solidFill>
                  <a:srgbClr val="0583F2"/>
                </a:solidFill>
              </a:defRPr>
            </a:pPr>
            <a:r>
              <a:t>Investment: $60K</a:t>
            </a:r>
          </a:p>
          <a:p>
            <a:pPr>
              <a:defRPr b="1">
                <a:solidFill>
                  <a:srgbClr val="10B981"/>
                </a:solidFill>
              </a:defRPr>
            </a:pPr>
            <a:r>
              <a:t>ROI: 2.5x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188720"/>
            <a:ext cx="228600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2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232669"/>
                </a:solidFill>
              </a:defRPr>
            </a:pPr>
            <a:r>
              <a:t>Phase 2 (3-6 mo)</a:t>
            </a:r>
          </a:p>
          <a:p>
            <a:r>
              <a:t>Intelligence</a:t>
            </a:r>
          </a:p>
          <a:p>
            <a:r>
              <a:t>2026 Q4 ~ 2027 Q2</a:t>
            </a:r>
          </a:p>
          <a:p/>
          <a:p>
            <a:r>
              <a:t>• S/T Learning</a:t>
            </a:r>
          </a:p>
          <a:p>
            <a:r>
              <a:t>• MH Forecasting</a:t>
            </a:r>
          </a:p>
          <a:p>
            <a:r>
              <a:t>• Workforce Planning</a:t>
            </a:r>
          </a:p>
          <a:p/>
          <a:p>
            <a:pPr>
              <a:defRPr>
                <a:solidFill>
                  <a:srgbClr val="0583F2"/>
                </a:solidFill>
              </a:defRPr>
            </a:pPr>
            <a:r>
              <a:t>Investment: $120K</a:t>
            </a:r>
          </a:p>
          <a:p>
            <a:pPr>
              <a:defRPr b="1">
                <a:solidFill>
                  <a:srgbClr val="10B981"/>
                </a:solidFill>
              </a:defRPr>
            </a:pPr>
            <a:r>
              <a:t>ROI: 4.2x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188720"/>
            <a:ext cx="228600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2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232669"/>
                </a:solidFill>
              </a:defRPr>
            </a:pPr>
            <a:r>
              <a:t>Phase 3 (6-12 mo)</a:t>
            </a:r>
          </a:p>
          <a:p>
            <a:r>
              <a:t>Optimization</a:t>
            </a:r>
          </a:p>
          <a:p>
            <a:r>
              <a:t>2027 Q3 ~ 2028 Q2</a:t>
            </a:r>
          </a:p>
          <a:p/>
          <a:p>
            <a:r>
              <a:t>• AI Task Allocation</a:t>
            </a:r>
          </a:p>
          <a:p>
            <a:r>
              <a:t>• Cost Analysis</a:t>
            </a:r>
          </a:p>
          <a:p>
            <a:r>
              <a:t>• ERP Integration</a:t>
            </a:r>
          </a:p>
          <a:p/>
          <a:p>
            <a:pPr>
              <a:defRPr>
                <a:solidFill>
                  <a:srgbClr val="0583F2"/>
                </a:solidFill>
              </a:defRPr>
            </a:pPr>
            <a:r>
              <a:t>Investment: $240K</a:t>
            </a:r>
          </a:p>
          <a:p>
            <a:pPr>
              <a:defRPr b="1">
                <a:solidFill>
                  <a:srgbClr val="10B981"/>
                </a:solidFill>
              </a:defRPr>
            </a:pPr>
            <a:r>
              <a:t>ROI: 5.0x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9319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32669"/>
                </a:solidFill>
              </a:defRPr>
            </a:pPr>
            <a:r>
              <a:t>3-Year Cumulative ROI: 11.1x ($4.68M net gain)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669"/>
                </a:solidFill>
              </a:defRPr>
            </a:pPr>
            <a:r>
              <a:t>Phase 1: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3-Metric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1031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8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32669"/>
                </a:solidFill>
              </a:defRPr>
            </a:pPr>
            <a:r>
              <a:t>📊 Raw Data</a:t>
            </a:r>
          </a:p>
          <a:p>
            <a:r>
              <a:t>38,280 records</a:t>
            </a:r>
          </a:p>
          <a:p/>
          <a:p>
            <a:r>
              <a:t>• Work Orders</a:t>
            </a:r>
          </a:p>
          <a:p>
            <a:r>
              <a:t>• Time Logs</a:t>
            </a:r>
          </a:p>
          <a:p>
            <a:r>
              <a:t>• Worker Assignments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2860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0583F2"/>
                </a:solidFill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1031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8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32669"/>
                </a:solidFill>
              </a:defRPr>
            </a:pPr>
            <a:r>
              <a:t>⚙️ 3-Metric Engine</a:t>
            </a:r>
          </a:p>
          <a:p/>
          <a:p>
            <a:r>
              <a:t>Time Utilization</a:t>
            </a:r>
          </a:p>
          <a:p>
            <a:r>
              <a:t>+</a:t>
            </a:r>
          </a:p>
          <a:p>
            <a:r>
              <a:t>Work Efficiency</a:t>
            </a:r>
          </a:p>
          <a:p>
            <a:r>
              <a:t>+</a:t>
            </a:r>
          </a:p>
          <a:p>
            <a:r>
              <a:t>Work Completion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22860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0583F2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21031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8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32669"/>
                </a:solidFill>
              </a:defRPr>
            </a:pPr>
            <a:r>
              <a:t>📈 Output</a:t>
            </a:r>
          </a:p>
          <a:p/>
          <a:p>
            <a:r>
              <a:t>• Individual</a:t>
            </a:r>
          </a:p>
          <a:p>
            <a:r>
              <a:t>  Performance Report</a:t>
            </a:r>
          </a:p>
          <a:p>
            <a:r>
              <a:t>• Team Dashboard</a:t>
            </a:r>
          </a:p>
          <a:p>
            <a:r>
              <a:t>• Real-time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148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32669"/>
                </a:solidFill>
              </a:defRPr>
            </a:pPr>
            <a:r>
              <a:t>M1: Design | M2: Development | M3: Testing | M4: Rollout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669"/>
                </a:solidFill>
              </a:defRPr>
            </a:pPr>
            <a:r>
              <a:t>ROI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투자 대비 수익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B7280"/>
                </a:solidFill>
              </a:defRPr>
            </a:pPr>
            <a:r>
              <a:t>Investment</a:t>
            </a:r>
          </a:p>
          <a:p>
            <a:pPr algn="ctr">
              <a:defRPr sz="4800" b="1">
                <a:solidFill>
                  <a:srgbClr val="EF4444"/>
                </a:solidFill>
              </a:defRPr>
            </a:pPr>
            <a:r>
              <a:t>$420K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0116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583F2"/>
                </a:solidFill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B7280"/>
                </a:solidFill>
              </a:defRPr>
            </a:pPr>
            <a:r>
              <a:t>Returns</a:t>
            </a:r>
          </a:p>
          <a:p>
            <a:pPr algn="ctr">
              <a:defRPr sz="4800" b="1">
                <a:solidFill>
                  <a:srgbClr val="10B981"/>
                </a:solidFill>
              </a:defRPr>
            </a:pPr>
            <a:r>
              <a:t>$1.85M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7432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583F2"/>
                </a:solidFill>
              </a:defRPr>
            </a:pPr>
            <a:r>
              <a:t>Net Gain: $1.43M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3474720"/>
            <a:ext cx="3657600" cy="914400"/>
          </a:xfrm>
          <a:prstGeom prst="roundRect">
            <a:avLst/>
          </a:prstGeom>
          <a:solidFill>
            <a:srgbClr val="FEF3C7"/>
          </a:solidFill>
          <a:ln w="38100">
            <a:solidFill>
              <a:srgbClr val="232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0" b="1">
                <a:solidFill>
                  <a:srgbClr val="232669"/>
                </a:solidFill>
              </a:defRPr>
            </a:pPr>
            <a:r>
              <a:t>ROI: 11.1x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5720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32669"/>
                </a:solidFill>
              </a:defRPr>
            </a:pPr>
            <a:r>
              <a:t>Payback Period: 9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669"/>
                </a:solidFill>
              </a:defRPr>
            </a:pPr>
            <a:r>
              <a:t>Vision 2028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AI-Powered Manufacturing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1887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32669"/>
                </a:solidFill>
              </a:defRPr>
            </a:pPr>
            <a:r>
              <a:t>AI Copilot</a:t>
            </a:r>
          </a:p>
          <a:p>
            <a:pPr algn="ctr">
              <a:defRPr sz="1800">
                <a:solidFill>
                  <a:srgbClr val="6B7280"/>
                </a:solidFill>
              </a:defRPr>
            </a:pPr>
            <a:r>
              <a:t>작업 현장의 AI 비서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1945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32669"/>
                </a:solidFill>
              </a:defRPr>
            </a:pPr>
            <a:r>
              <a:t>🔮 Predict</a:t>
            </a:r>
          </a:p>
          <a:p>
            <a:r>
              <a:t>주간 생산 계획</a:t>
            </a:r>
          </a:p>
          <a:p>
            <a:r>
              <a:t>자동 생성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92608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32669"/>
                </a:solidFill>
              </a:defRPr>
            </a:pPr>
            <a:r>
              <a:t>⚙️ Optimize</a:t>
            </a:r>
          </a:p>
          <a:p>
            <a:r>
              <a:t>실시간 자원</a:t>
            </a:r>
          </a:p>
          <a:p>
            <a:r>
              <a:t>최적 배분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6576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32669"/>
                </a:solidFill>
              </a:defRPr>
            </a:pPr>
            <a:r>
              <a:t>🚨 Alert</a:t>
            </a:r>
          </a:p>
          <a:p>
            <a:r>
              <a:t>이상 징후</a:t>
            </a:r>
          </a:p>
          <a:p>
            <a:r>
              <a:t>사전 경보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2608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32669"/>
                </a:solidFill>
              </a:defRPr>
            </a:pPr>
            <a:r>
              <a:t>📈 Learn</a:t>
            </a:r>
          </a:p>
          <a:p>
            <a:r>
              <a:t>지속적 성능</a:t>
            </a:r>
          </a:p>
          <a:p>
            <a:r>
              <a:t>개선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5720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669"/>
                </a:solidFill>
              </a:defRPr>
            </a:pPr>
            <a:r>
              <a:t>→ Autonomous Manufacturing Operations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669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지금 시작하세요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✅ Phase 1 Budget Approval - $60K (2026 Q2)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✅ Work Completion Score Launch - 4 weeks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✅ IPR Pilot Program - 50 workers, 8 weeks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✅ Team Dashboard Rollout - 12 weeks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583F2"/>
                </a:solidFill>
              </a:defRPr>
            </a:pPr>
            <a:r>
              <a:t>M1 → M2 → M3 → M4</a:t>
            </a:r>
          </a:p>
          <a:p>
            <a:r>
              <a:t>Design | Develop | Test | Deploy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840480"/>
            <a:ext cx="5486400" cy="731520"/>
          </a:xfrm>
          <a:prstGeom prst="roundRect">
            <a:avLst/>
          </a:prstGeom>
          <a:solidFill>
            <a:srgbClr val="FEF3C7"/>
          </a:solidFill>
          <a:ln w="38100">
            <a:solidFill>
              <a:srgbClr val="232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32669"/>
                </a:solidFill>
              </a:defRPr>
            </a:pPr>
            <a:r>
              <a:t>🚀 Start Today</a:t>
            </a:r>
          </a:p>
          <a:p>
            <a:pPr algn="ctr">
              <a:defRPr sz="1200">
                <a:solidFill>
                  <a:srgbClr val="000000"/>
                </a:solidFill>
              </a:defRPr>
            </a:pPr>
            <a:r>
              <a:t>Executive Sponsorship Required | Change Management Plan | IT Team Alignment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MES Team | mes@company.com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